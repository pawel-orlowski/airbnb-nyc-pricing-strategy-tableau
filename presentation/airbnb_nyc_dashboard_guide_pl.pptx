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2994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180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29265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831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004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958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4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004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389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651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5882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0960CEB-8C18-46C2-9269-B33E835AC9CD}" type="datetimeFigureOut">
              <a:rPr lang="pl-PL" smtClean="0"/>
              <a:t>19.02.2026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4A4F349-949A-4FFC-B306-38C7D7CBD2B2}" type="slidenum">
              <a:rPr lang="pl-PL" smtClean="0"/>
              <a:t>‹#›</a:t>
            </a:fld>
            <a:endParaRPr lang="pl-P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438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Obraz zawierający tekst, zrzut ekranu, diagram">
            <a:extLst>
              <a:ext uri="{FF2B5EF4-FFF2-40B4-BE49-F238E27FC236}">
                <a16:creationId xmlns:a16="http://schemas.microsoft.com/office/drawing/2014/main" id="{DEEDE70E-3D59-867E-691E-D70D62AD1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effectLst>
            <a:outerShdw dist="50800" dir="54000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C4A79938-55FC-6180-959B-FAA4CD6C773E}"/>
              </a:ext>
            </a:extLst>
          </p:cNvPr>
          <p:cNvSpPr txBox="1"/>
          <p:nvPr/>
        </p:nvSpPr>
        <p:spPr>
          <a:xfrm>
            <a:off x="3450648" y="866850"/>
            <a:ext cx="5290702" cy="175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5400" dirty="0"/>
              <a:t>Strategia cenowa Airbnb NYC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B9289D8-050A-F7F2-AE70-41F9E3E9ACB6}"/>
              </a:ext>
            </a:extLst>
          </p:cNvPr>
          <p:cNvSpPr txBox="1"/>
          <p:nvPr/>
        </p:nvSpPr>
        <p:spPr>
          <a:xfrm>
            <a:off x="1718037" y="342899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800" dirty="0"/>
              <a:t>Jak dobrać dzielnicę z typem lokalu i ustalić cenę startową?</a:t>
            </a:r>
          </a:p>
        </p:txBody>
      </p:sp>
    </p:spTree>
    <p:extLst>
      <p:ext uri="{BB962C8B-B14F-4D97-AF65-F5344CB8AC3E}">
        <p14:creationId xmlns:p14="http://schemas.microsoft.com/office/powerpoint/2010/main" val="2761574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 descr="Obraz zawierający tekst, zrzut ekranu, diagram">
            <a:extLst>
              <a:ext uri="{FF2B5EF4-FFF2-40B4-BE49-F238E27FC236}">
                <a16:creationId xmlns:a16="http://schemas.microsoft.com/office/drawing/2014/main" id="{F8DF6636-DC87-65EB-ABC0-EBEE6EDF1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49" y="2442248"/>
            <a:ext cx="8248651" cy="3982451"/>
          </a:xfrm>
          <a:prstGeom prst="rect">
            <a:avLst/>
          </a:prstGeom>
          <a:effectLst>
            <a:outerShdw dist="50800" dir="54000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E7E45D60-B707-AB49-A2FE-57544D69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Mapa systemu</a:t>
            </a:r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EC62AD7C-44CD-6381-65FC-2FEB73D27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86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 3 wizualizacje + ranking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 Filtry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 Interakcje</a:t>
            </a:r>
          </a:p>
        </p:txBody>
      </p:sp>
    </p:spTree>
    <p:extLst>
      <p:ext uri="{BB962C8B-B14F-4D97-AF65-F5344CB8AC3E}">
        <p14:creationId xmlns:p14="http://schemas.microsoft.com/office/powerpoint/2010/main" val="3659650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56712C-6DAD-C992-4C5E-63601CC9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Jak używać </a:t>
            </a:r>
            <a:r>
              <a:rPr lang="pl-PL" sz="3600" dirty="0" err="1"/>
              <a:t>dashboardu</a:t>
            </a:r>
            <a:r>
              <a:rPr lang="pl-PL" sz="3600" dirty="0"/>
              <a:t> ?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69823871-0F12-9172-6018-D895D68D0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0225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Krok 1: Wybierz </a:t>
            </a:r>
            <a:r>
              <a:rPr lang="pl-PL" i="1" dirty="0"/>
              <a:t>Typ lokalu</a:t>
            </a:r>
          </a:p>
          <a:p>
            <a:pPr marL="0" indent="0">
              <a:buNone/>
            </a:pPr>
            <a:r>
              <a:rPr lang="pl-PL" dirty="0"/>
              <a:t>Krok 2: Zawęź </a:t>
            </a:r>
            <a:r>
              <a:rPr lang="pl-PL" i="1" dirty="0"/>
              <a:t>Dzielnicę</a:t>
            </a:r>
            <a:r>
              <a:rPr lang="pl-PL" dirty="0"/>
              <a:t> lub kliknij słupek w „Cena wg dzielnicy”</a:t>
            </a:r>
          </a:p>
          <a:p>
            <a:pPr marL="0" indent="0">
              <a:buNone/>
            </a:pPr>
            <a:r>
              <a:rPr lang="pl-PL" dirty="0"/>
              <a:t>Krok 3: Dopasuj </a:t>
            </a:r>
            <a:r>
              <a:rPr lang="pl-PL" i="1" dirty="0"/>
              <a:t>Min nocy </a:t>
            </a:r>
            <a:r>
              <a:rPr lang="pl-PL" dirty="0"/>
              <a:t>i sprawdź wpływ na cenę/popyt</a:t>
            </a:r>
          </a:p>
        </p:txBody>
      </p:sp>
      <p:grpSp>
        <p:nvGrpSpPr>
          <p:cNvPr id="12" name="Grupa 11">
            <a:extLst>
              <a:ext uri="{FF2B5EF4-FFF2-40B4-BE49-F238E27FC236}">
                <a16:creationId xmlns:a16="http://schemas.microsoft.com/office/drawing/2014/main" id="{12E8A138-9065-52AD-2603-90462BDDFE25}"/>
              </a:ext>
            </a:extLst>
          </p:cNvPr>
          <p:cNvGrpSpPr/>
          <p:nvPr/>
        </p:nvGrpSpPr>
        <p:grpSpPr>
          <a:xfrm>
            <a:off x="1817201" y="3590925"/>
            <a:ext cx="8557598" cy="2819725"/>
            <a:chOff x="1713509" y="3771574"/>
            <a:chExt cx="8557598" cy="2819725"/>
          </a:xfrm>
        </p:grpSpPr>
        <p:pic>
          <p:nvPicPr>
            <p:cNvPr id="10" name="Obraz 9" descr="Obraz zawierający tekst, zrzut ekranu, diagram">
              <a:extLst>
                <a:ext uri="{FF2B5EF4-FFF2-40B4-BE49-F238E27FC236}">
                  <a16:creationId xmlns:a16="http://schemas.microsoft.com/office/drawing/2014/main" id="{1510DA72-22DB-63D8-DAA2-1ABC21015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1753"/>
            <a:stretch>
              <a:fillRect/>
            </a:stretch>
          </p:blipFill>
          <p:spPr>
            <a:xfrm>
              <a:off x="1713509" y="3771574"/>
              <a:ext cx="8557598" cy="2819725"/>
            </a:xfrm>
            <a:prstGeom prst="rect">
              <a:avLst/>
            </a:prstGeom>
            <a:effectLst>
              <a:outerShdw dist="50800" dir="5400000" sx="1000" sy="1000" algn="ctr" rotWithShape="0">
                <a:srgbClr val="000000"/>
              </a:outerShdw>
              <a:reflection endPos="0" dist="50800" dir="5400000" sy="-100000" algn="bl" rotWithShape="0"/>
            </a:effectLst>
          </p:spPr>
        </p:pic>
        <p:sp>
          <p:nvSpPr>
            <p:cNvPr id="11" name="Prostokąt 10">
              <a:extLst>
                <a:ext uri="{FF2B5EF4-FFF2-40B4-BE49-F238E27FC236}">
                  <a16:creationId xmlns:a16="http://schemas.microsoft.com/office/drawing/2014/main" id="{B1358059-705B-E228-20B5-CB2E2BFD8A0E}"/>
                </a:ext>
              </a:extLst>
            </p:cNvPr>
            <p:cNvSpPr/>
            <p:nvPr/>
          </p:nvSpPr>
          <p:spPr>
            <a:xfrm>
              <a:off x="1713509" y="3771574"/>
              <a:ext cx="7259041" cy="42895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3119598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89102B-7B7D-92E4-32F9-99AF48A2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Filtry – co robią 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DEF862-DC9B-56AB-86E9-F46DEB601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1833491"/>
            <a:ext cx="9601200" cy="3581400"/>
          </a:xfrm>
        </p:spPr>
        <p:txBody>
          <a:bodyPr/>
          <a:lstStyle/>
          <a:p>
            <a:r>
              <a:rPr lang="pl-PL" dirty="0"/>
              <a:t>Typ lokalu 		porównanie segmentów</a:t>
            </a:r>
          </a:p>
          <a:p>
            <a:r>
              <a:rPr lang="pl-PL" dirty="0"/>
              <a:t>Dzielnica 		ograniczenie lokalizacji</a:t>
            </a:r>
          </a:p>
          <a:p>
            <a:r>
              <a:rPr lang="pl-PL" dirty="0"/>
              <a:t>Instant 	     		wpływ na popyt</a:t>
            </a:r>
          </a:p>
          <a:p>
            <a:r>
              <a:rPr lang="pl-PL" dirty="0"/>
              <a:t>Weryfikacja 		 jakość hostów</a:t>
            </a:r>
          </a:p>
          <a:p>
            <a:r>
              <a:rPr lang="pl-PL" dirty="0"/>
              <a:t>Min nocy 	         	polityka wynajmu, a cena</a:t>
            </a:r>
          </a:p>
        </p:txBody>
      </p:sp>
      <p:sp>
        <p:nvSpPr>
          <p:cNvPr id="5" name="Strzałka: w prawo 4">
            <a:extLst>
              <a:ext uri="{FF2B5EF4-FFF2-40B4-BE49-F238E27FC236}">
                <a16:creationId xmlns:a16="http://schemas.microsoft.com/office/drawing/2014/main" id="{3C6986E3-657B-194D-DA81-16FA152DE79C}"/>
              </a:ext>
            </a:extLst>
          </p:cNvPr>
          <p:cNvSpPr/>
          <p:nvPr/>
        </p:nvSpPr>
        <p:spPr>
          <a:xfrm>
            <a:off x="2828925" y="2050308"/>
            <a:ext cx="59055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Strzałka: w prawo 6">
            <a:extLst>
              <a:ext uri="{FF2B5EF4-FFF2-40B4-BE49-F238E27FC236}">
                <a16:creationId xmlns:a16="http://schemas.microsoft.com/office/drawing/2014/main" id="{4FB64D67-B0DE-07A5-7C4E-CD64B8F06985}"/>
              </a:ext>
            </a:extLst>
          </p:cNvPr>
          <p:cNvSpPr/>
          <p:nvPr/>
        </p:nvSpPr>
        <p:spPr>
          <a:xfrm>
            <a:off x="2828925" y="2885286"/>
            <a:ext cx="59055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0AD88590-0A67-5C46-1A66-DCEB9AB53CFF}"/>
              </a:ext>
            </a:extLst>
          </p:cNvPr>
          <p:cNvSpPr/>
          <p:nvPr/>
        </p:nvSpPr>
        <p:spPr>
          <a:xfrm>
            <a:off x="2828925" y="3324216"/>
            <a:ext cx="59055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Strzałka: w prawo 8">
            <a:extLst>
              <a:ext uri="{FF2B5EF4-FFF2-40B4-BE49-F238E27FC236}">
                <a16:creationId xmlns:a16="http://schemas.microsoft.com/office/drawing/2014/main" id="{90AF6A24-34E3-FAC3-E6FA-B436DA4DB287}"/>
              </a:ext>
            </a:extLst>
          </p:cNvPr>
          <p:cNvSpPr/>
          <p:nvPr/>
        </p:nvSpPr>
        <p:spPr>
          <a:xfrm>
            <a:off x="2828925" y="3755085"/>
            <a:ext cx="59055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C348EBA6-B8CE-8EAA-2038-7C79CCED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563301"/>
            <a:ext cx="10820400" cy="599404"/>
          </a:xfrm>
          <a:prstGeom prst="rect">
            <a:avLst/>
          </a:prstGeom>
        </p:spPr>
      </p:pic>
      <p:sp>
        <p:nvSpPr>
          <p:cNvPr id="4" name="Strzałka: w prawo 3">
            <a:extLst>
              <a:ext uri="{FF2B5EF4-FFF2-40B4-BE49-F238E27FC236}">
                <a16:creationId xmlns:a16="http://schemas.microsoft.com/office/drawing/2014/main" id="{A7E2AC89-3D49-BF2F-67EE-3270AC272EAB}"/>
              </a:ext>
            </a:extLst>
          </p:cNvPr>
          <p:cNvSpPr/>
          <p:nvPr/>
        </p:nvSpPr>
        <p:spPr>
          <a:xfrm>
            <a:off x="2828925" y="2458318"/>
            <a:ext cx="59055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150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5EE8C3-428F-D5D5-205E-5717A78F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Mapa: cena i popyt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FFF058-21B6-57CE-F475-9E6513517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38300"/>
            <a:ext cx="102489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Mapa pokazuje koncentrację ofert w danej okolicy (w zależności od ustawień)</a:t>
            </a:r>
          </a:p>
        </p:txBody>
      </p:sp>
      <p:pic>
        <p:nvPicPr>
          <p:cNvPr id="5" name="Obraz 4" descr="Obraz zawierający tekst, mapa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AF4F882-D3D9-5744-0814-64AD12E85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89" y="2367025"/>
            <a:ext cx="9069721" cy="38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8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526403-E64C-99B4-6B77-1B312F15C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Typowa cena wg dzielnicy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831C5C-4E03-D36F-0E68-A84A9B0B2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Ranking „Typowa cena wg dzielnicy” – interpretacja</a:t>
            </a:r>
          </a:p>
          <a:p>
            <a:r>
              <a:rPr lang="pl-PL" dirty="0"/>
              <a:t>Oś X = typowa cena (mediana)</a:t>
            </a:r>
          </a:p>
          <a:p>
            <a:r>
              <a:rPr lang="pl-PL" dirty="0"/>
              <a:t>Konkurencja = liczba ofert w danej dzielnicy</a:t>
            </a:r>
          </a:p>
          <a:p>
            <a:r>
              <a:rPr lang="pl-PL" dirty="0"/>
              <a:t>Kliknięcie słupka filtruje resztę </a:t>
            </a:r>
            <a:r>
              <a:rPr lang="pl-PL" dirty="0" err="1"/>
              <a:t>dashboardu</a:t>
            </a:r>
            <a:r>
              <a:rPr lang="pl-PL" dirty="0"/>
              <a:t> (wg dzielnicy)</a:t>
            </a:r>
          </a:p>
        </p:txBody>
      </p:sp>
      <p:pic>
        <p:nvPicPr>
          <p:cNvPr id="5" name="Obraz 4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59100A5-577D-AFEC-C11D-767ED8692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5" y="3732564"/>
            <a:ext cx="5905490" cy="270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6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F31EFB33-23C2-EB60-DCB1-B3A8D3946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1525" y="1283525"/>
            <a:ext cx="11286972" cy="487915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7758FC7D-6868-1850-2A96-B3ECFB5B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>
            <a:normAutofit/>
          </a:bodyPr>
          <a:lstStyle/>
          <a:p>
            <a:r>
              <a:rPr lang="pl-PL" sz="3600" dirty="0"/>
              <a:t>Popyt vs cena – identyfikacja optymalnego segmentu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6D1307-8C4B-A7BE-0E00-5C578AE64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93281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 err="1"/>
              <a:t>Scatter</a:t>
            </a:r>
            <a:r>
              <a:rPr lang="pl-PL" dirty="0"/>
              <a:t> – jak czytać ćwiartki</a:t>
            </a:r>
          </a:p>
          <a:p>
            <a:r>
              <a:rPr lang="pl-PL" dirty="0"/>
              <a:t>Oś X = cena (mediana)</a:t>
            </a:r>
          </a:p>
          <a:p>
            <a:r>
              <a:rPr lang="pl-PL" dirty="0"/>
              <a:t>Oś Y = popyt (średnia recenzji na miesiąc)</a:t>
            </a:r>
          </a:p>
          <a:p>
            <a:r>
              <a:rPr lang="pl-PL" dirty="0"/>
              <a:t>Linie mediany dzielą rynek na 4 segmenty </a:t>
            </a:r>
          </a:p>
        </p:txBody>
      </p:sp>
    </p:spTree>
    <p:extLst>
      <p:ext uri="{BB962C8B-B14F-4D97-AF65-F5344CB8AC3E}">
        <p14:creationId xmlns:p14="http://schemas.microsoft.com/office/powerpoint/2010/main" val="121663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CF9603-E26E-72E9-B453-451BCCCCE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>
            <a:normAutofit/>
          </a:bodyPr>
          <a:lstStyle/>
          <a:p>
            <a:r>
              <a:rPr lang="pl-PL" sz="3600" dirty="0" err="1"/>
              <a:t>Scatter</a:t>
            </a:r>
            <a:r>
              <a:rPr lang="pl-PL" sz="3600" dirty="0"/>
              <a:t> – interpretacja biznesowa</a:t>
            </a:r>
          </a:p>
        </p:txBody>
      </p:sp>
      <p:grpSp>
        <p:nvGrpSpPr>
          <p:cNvPr id="12" name="Grupa 11">
            <a:extLst>
              <a:ext uri="{FF2B5EF4-FFF2-40B4-BE49-F238E27FC236}">
                <a16:creationId xmlns:a16="http://schemas.microsoft.com/office/drawing/2014/main" id="{243E6AC0-F18C-B446-E6A5-BA12C9FAF7D7}"/>
              </a:ext>
            </a:extLst>
          </p:cNvPr>
          <p:cNvGrpSpPr/>
          <p:nvPr/>
        </p:nvGrpSpPr>
        <p:grpSpPr>
          <a:xfrm>
            <a:off x="721476" y="1504949"/>
            <a:ext cx="11347639" cy="4905375"/>
            <a:chOff x="721476" y="1504949"/>
            <a:chExt cx="11347639" cy="4905375"/>
          </a:xfrm>
        </p:grpSpPr>
        <p:pic>
          <p:nvPicPr>
            <p:cNvPr id="4" name="Obraz 3" descr="Obraz zawierający tekst, zrzut ekranu, diagram, linia&#10;&#10;Zawartość wygenerowana przez AI może być niepoprawna.">
              <a:extLst>
                <a:ext uri="{FF2B5EF4-FFF2-40B4-BE49-F238E27FC236}">
                  <a16:creationId xmlns:a16="http://schemas.microsoft.com/office/drawing/2014/main" id="{FF43FBC4-C850-D54A-429F-FDD4E33F7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476" y="1504949"/>
              <a:ext cx="11347639" cy="4905375"/>
            </a:xfrm>
            <a:prstGeom prst="rect">
              <a:avLst/>
            </a:prstGeom>
          </p:spPr>
        </p:pic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2684E46D-C28F-F37E-0D2C-F589206F761C}"/>
                </a:ext>
              </a:extLst>
            </p:cNvPr>
            <p:cNvSpPr txBox="1"/>
            <p:nvPr/>
          </p:nvSpPr>
          <p:spPr>
            <a:xfrm>
              <a:off x="7943851" y="4783664"/>
              <a:ext cx="4019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000" dirty="0"/>
                <a:t>Ryzyko - wysoka cena i niski popyt</a:t>
              </a:r>
            </a:p>
          </p:txBody>
        </p:sp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BBB49963-7E67-F95D-16A2-72175F63B494}"/>
                </a:ext>
              </a:extLst>
            </p:cNvPr>
            <p:cNvSpPr txBox="1"/>
            <p:nvPr/>
          </p:nvSpPr>
          <p:spPr>
            <a:xfrm>
              <a:off x="1908087" y="4783664"/>
              <a:ext cx="472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000" dirty="0"/>
                <a:t>Budżet – niska cena i niski popyt</a:t>
              </a:r>
            </a:p>
          </p:txBody>
        </p:sp>
        <p:sp>
          <p:nvSpPr>
            <p:cNvPr id="8" name="pole tekstowe 7">
              <a:extLst>
                <a:ext uri="{FF2B5EF4-FFF2-40B4-BE49-F238E27FC236}">
                  <a16:creationId xmlns:a16="http://schemas.microsoft.com/office/drawing/2014/main" id="{4AE13395-43CF-B783-6BE5-7741A6D9A208}"/>
                </a:ext>
              </a:extLst>
            </p:cNvPr>
            <p:cNvSpPr txBox="1"/>
            <p:nvPr/>
          </p:nvSpPr>
          <p:spPr>
            <a:xfrm>
              <a:off x="7590498" y="2294214"/>
              <a:ext cx="4372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000" dirty="0"/>
                <a:t>Premium – wysoka cena i wysoki popyt</a:t>
              </a:r>
            </a:p>
          </p:txBody>
        </p:sp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7ADF3C57-8E56-7D05-E49A-B55F021C75D7}"/>
                </a:ext>
              </a:extLst>
            </p:cNvPr>
            <p:cNvSpPr txBox="1"/>
            <p:nvPr/>
          </p:nvSpPr>
          <p:spPr>
            <a:xfrm>
              <a:off x="1908087" y="2294214"/>
              <a:ext cx="472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000" dirty="0"/>
                <a:t>Okazja - niska cena i wysoki popyt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28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3C97AB-C071-D0E5-91AB-42480F7F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Min noce vs cena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8A8496-0349-3A6B-0C96-5D9619F6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Wykres liniowy – interpretacja</a:t>
            </a:r>
          </a:p>
          <a:p>
            <a:r>
              <a:rPr lang="pl-PL" dirty="0"/>
              <a:t>Oś X = minimalna liczba nocy</a:t>
            </a:r>
          </a:p>
          <a:p>
            <a:r>
              <a:rPr lang="pl-PL" dirty="0"/>
              <a:t>Oś Y = typowa cena (mediana)</a:t>
            </a:r>
          </a:p>
          <a:p>
            <a:r>
              <a:rPr lang="pl-PL" dirty="0"/>
              <a:t>Rozmiar odcinka = konkurencja (liczba ofert)</a:t>
            </a:r>
          </a:p>
          <a:p>
            <a:endParaRPr lang="pl-PL" dirty="0"/>
          </a:p>
        </p:txBody>
      </p:sp>
      <p:pic>
        <p:nvPicPr>
          <p:cNvPr id="6" name="Obraz 5" descr="Obraz zawierający tekst, linia, Czcionka, Wykres&#10;&#10;Zawartość wygenerowana przez AI może być niepoprawna.">
            <a:extLst>
              <a:ext uri="{FF2B5EF4-FFF2-40B4-BE49-F238E27FC236}">
                <a16:creationId xmlns:a16="http://schemas.microsoft.com/office/drawing/2014/main" id="{4AD8E8AC-D1EC-FEB7-EFC9-2BA7898D6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41" y="3619384"/>
            <a:ext cx="6727918" cy="285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6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279D93-1116-87A8-38A4-24A79041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Wnioski kluczowe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0F1DE1-E99F-9579-BC14-A503B2C29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3960" y="1909872"/>
            <a:ext cx="10700365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Rynek ma wyraźny zakres cen akceptowalnych przez klientów (strefa największej koncentracji ofert).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Wysoka cena nie gwarantuje proporcjonalnego wzrostu popytu.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Największa konkurencja występuje w najbardziej atrakcyjnych dzielnicach.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Zbyt wysoka liczba minimalnych nocy ogranicza dostęp do popytu.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Najbardziej zrównoważone segmenty to te łączące: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umiarkowaną cenę,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stabilny popyt,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kontrolowaną konkurencję.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18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22E421-28C9-D179-BDBC-948D1D52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Rekomendacje cenowe dla nowych gospodarzy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FF9122-3D31-452B-28CB-083C37B2F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85900"/>
            <a:ext cx="9839325" cy="45720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pl-PL" dirty="0"/>
              <a:t>Wybór dzielnicy</a:t>
            </a:r>
          </a:p>
          <a:p>
            <a:pPr lvl="1"/>
            <a:r>
              <a:rPr lang="pl-PL" dirty="0"/>
              <a:t>Rozważyć lokalizacje o zrównoważonej konkurencji</a:t>
            </a:r>
          </a:p>
          <a:p>
            <a:pPr lvl="1"/>
            <a:r>
              <a:rPr lang="pl-PL" dirty="0"/>
              <a:t>Unikać segmentu </a:t>
            </a:r>
            <a:r>
              <a:rPr lang="pl-PL" dirty="0" err="1"/>
              <a:t>premium</a:t>
            </a:r>
            <a:r>
              <a:rPr lang="pl-PL" dirty="0"/>
              <a:t> bez posiadania opinii</a:t>
            </a:r>
          </a:p>
          <a:p>
            <a:pPr marL="514350" indent="-514350">
              <a:buAutoNum type="arabicPeriod"/>
            </a:pPr>
            <a:r>
              <a:rPr lang="pl-PL" dirty="0"/>
              <a:t>Strategia ceny startowej</a:t>
            </a:r>
          </a:p>
          <a:p>
            <a:pPr lvl="1"/>
            <a:r>
              <a:rPr lang="pl-PL" dirty="0"/>
              <a:t>Cena początkowa 5-10% poniżej mediany</a:t>
            </a:r>
          </a:p>
          <a:p>
            <a:pPr lvl="1"/>
            <a:r>
              <a:rPr lang="pl-PL" dirty="0"/>
              <a:t>Podnosić cenę po uzyskaniu pierwszych opinii</a:t>
            </a:r>
          </a:p>
          <a:p>
            <a:pPr marL="514350" indent="-514350">
              <a:buAutoNum type="arabicPeriod"/>
            </a:pPr>
            <a:r>
              <a:rPr lang="pl-PL" dirty="0"/>
              <a:t>Ustawienia operacyjne</a:t>
            </a:r>
          </a:p>
          <a:p>
            <a:pPr lvl="1"/>
            <a:r>
              <a:rPr lang="pl-PL" dirty="0"/>
              <a:t>Minimalna liczba nocy: 2-5 nocy (większa elastyczność = większy popyt)</a:t>
            </a:r>
          </a:p>
          <a:p>
            <a:pPr lvl="1"/>
            <a:r>
              <a:rPr lang="pl-PL" dirty="0"/>
              <a:t>Włączyć Instant </a:t>
            </a:r>
            <a:r>
              <a:rPr lang="pl-PL" dirty="0" err="1"/>
              <a:t>Bookable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Skupić się na wysokim standardzie oraz szybkim budowaniu opinii</a:t>
            </a:r>
          </a:p>
          <a:p>
            <a:pPr marL="0" indent="0">
              <a:buNone/>
            </a:pPr>
            <a:r>
              <a:rPr lang="pl-PL" dirty="0"/>
              <a:t>Wniosek:</a:t>
            </a:r>
          </a:p>
          <a:p>
            <a:pPr marL="0" indent="0">
              <a:buNone/>
            </a:pPr>
            <a:r>
              <a:rPr lang="pl-PL" dirty="0"/>
              <a:t>Kluczowa jest strategia wejścia i budowa reputacji, a nie maksymalizacja ceny od pierwszego dnia.</a:t>
            </a:r>
          </a:p>
        </p:txBody>
      </p:sp>
    </p:spTree>
    <p:extLst>
      <p:ext uri="{BB962C8B-B14F-4D97-AF65-F5344CB8AC3E}">
        <p14:creationId xmlns:p14="http://schemas.microsoft.com/office/powerpoint/2010/main" val="174082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diagram">
            <a:extLst>
              <a:ext uri="{FF2B5EF4-FFF2-40B4-BE49-F238E27FC236}">
                <a16:creationId xmlns:a16="http://schemas.microsoft.com/office/drawing/2014/main" id="{6ABC26BF-41FA-7BD2-5932-36BA7F1E3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effectLst>
            <a:outerShdw dist="50800" dir="54000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DD4CFEC-7DFE-D623-A2C3-76613795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0" y="68580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pl-PL" sz="3600" dirty="0"/>
              <a:t>Przykładowe wykorzystanie </a:t>
            </a:r>
            <a:r>
              <a:rPr lang="pl-PL" sz="3600" dirty="0" err="1"/>
              <a:t>dashboardu</a:t>
            </a:r>
            <a:endParaRPr lang="pl-PL" sz="36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774A00B-F5FB-71CC-AD38-7D9E254B0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7111" y="2057400"/>
            <a:ext cx="5057775" cy="35814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pl-PL" dirty="0"/>
              <a:t>Wybór typu lokalu</a:t>
            </a:r>
          </a:p>
          <a:p>
            <a:pPr marL="514350" indent="-514350">
              <a:buAutoNum type="arabicPeriod"/>
            </a:pPr>
            <a:r>
              <a:rPr lang="pl-PL" dirty="0"/>
              <a:t>Kliknięcie dzielnicy w rankingu</a:t>
            </a:r>
          </a:p>
          <a:p>
            <a:pPr marL="514350" indent="-514350">
              <a:buAutoNum type="arabicPeriod"/>
            </a:pPr>
            <a:r>
              <a:rPr lang="pl-PL" dirty="0"/>
              <a:t>Analiza wykresu </a:t>
            </a:r>
            <a:r>
              <a:rPr lang="pl-PL" i="1" dirty="0"/>
              <a:t>Popyt vs cena</a:t>
            </a:r>
          </a:p>
          <a:p>
            <a:pPr marL="514350" indent="-514350">
              <a:buAutoNum type="arabicPeriod"/>
            </a:pPr>
            <a:r>
              <a:rPr lang="pl-PL" dirty="0"/>
              <a:t>Dostosowanie minimalnej liczby nocy i obserwacja wpływu na cenę</a:t>
            </a:r>
          </a:p>
          <a:p>
            <a:pPr marL="514350" indent="-514350">
              <a:buAutoNum type="arabicPeriod"/>
            </a:pPr>
            <a:r>
              <a:rPr lang="pl-PL" dirty="0"/>
              <a:t>Ustalenie ceny poniżej mediany w danym segmencie</a:t>
            </a:r>
          </a:p>
          <a:p>
            <a:pPr marL="514350" indent="-514350"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4494211"/>
      </p:ext>
    </p:extLst>
  </p:cSld>
  <p:clrMapOvr>
    <a:masterClrMapping/>
  </p:clrMapOvr>
</p:sld>
</file>

<file path=ppt/theme/theme1.xml><?xml version="1.0" encoding="utf-8"?>
<a:theme xmlns:a="http://schemas.openxmlformats.org/drawingml/2006/main" name="Przycinanie">
  <a:themeElements>
    <a:clrScheme name="Przycinani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Przycinani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rzycinani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TM10001105[[fn=Przycinanie]]</Template>
  <TotalTime>98</TotalTime>
  <Words>423</Words>
  <Application>Microsoft Office PowerPoint</Application>
  <PresentationFormat>Panoramiczny</PresentationFormat>
  <Paragraphs>70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Arial</vt:lpstr>
      <vt:lpstr>Franklin Gothic Book</vt:lpstr>
      <vt:lpstr>Wingdings</vt:lpstr>
      <vt:lpstr>Przycinanie</vt:lpstr>
      <vt:lpstr>Prezentacja programu PowerPoint</vt:lpstr>
      <vt:lpstr>Mapa systemu</vt:lpstr>
      <vt:lpstr>Jak używać dashboardu ?</vt:lpstr>
      <vt:lpstr>Filtry – co robią ?</vt:lpstr>
      <vt:lpstr>Mapa: cena i popyt</vt:lpstr>
      <vt:lpstr>Typowa cena wg dzielnicy</vt:lpstr>
      <vt:lpstr>Popyt vs cena – identyfikacja optymalnego segmentu</vt:lpstr>
      <vt:lpstr>Scatter – interpretacja biznesowa</vt:lpstr>
      <vt:lpstr>Min noce vs cena</vt:lpstr>
      <vt:lpstr>Wnioski kluczowe</vt:lpstr>
      <vt:lpstr>Rekomendacje cenowe dla nowych gospodarzy</vt:lpstr>
      <vt:lpstr>Przykładowe wykorzystanie dashboardu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Paweł Orłowski</dc:creator>
  <cp:lastModifiedBy>Paweł Orłowski</cp:lastModifiedBy>
  <cp:revision>4</cp:revision>
  <dcterms:created xsi:type="dcterms:W3CDTF">2026-02-18T17:04:52Z</dcterms:created>
  <dcterms:modified xsi:type="dcterms:W3CDTF">2026-02-19T15:37:30Z</dcterms:modified>
</cp:coreProperties>
</file>